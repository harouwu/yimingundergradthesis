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548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2796-5687-4F80-BE49-3B313A772951}" type="datetimeFigureOut">
              <a:rPr lang="zh-CN" altLang="en-US" smtClean="0"/>
              <a:t>2014/7/4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0AFA-6165-4EEE-BFCF-CB04E27601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632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2796-5687-4F80-BE49-3B313A772951}" type="datetimeFigureOut">
              <a:rPr lang="zh-CN" altLang="en-US" smtClean="0"/>
              <a:t>2014/7/4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0AFA-6165-4EEE-BFCF-CB04E27601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405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2796-5687-4F80-BE49-3B313A772951}" type="datetimeFigureOut">
              <a:rPr lang="zh-CN" altLang="en-US" smtClean="0"/>
              <a:t>2014/7/4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0AFA-6165-4EEE-BFCF-CB04E27601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187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2796-5687-4F80-BE49-3B313A772951}" type="datetimeFigureOut">
              <a:rPr lang="zh-CN" altLang="en-US" smtClean="0"/>
              <a:t>2014/7/4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0AFA-6165-4EEE-BFCF-CB04E27601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108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2796-5687-4F80-BE49-3B313A772951}" type="datetimeFigureOut">
              <a:rPr lang="zh-CN" altLang="en-US" smtClean="0"/>
              <a:t>2014/7/4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0AFA-6165-4EEE-BFCF-CB04E27601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804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2796-5687-4F80-BE49-3B313A772951}" type="datetimeFigureOut">
              <a:rPr lang="zh-CN" altLang="en-US" smtClean="0"/>
              <a:t>2014/7/4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0AFA-6165-4EEE-BFCF-CB04E27601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9241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2796-5687-4F80-BE49-3B313A772951}" type="datetimeFigureOut">
              <a:rPr lang="zh-CN" altLang="en-US" smtClean="0"/>
              <a:t>2014/7/4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0AFA-6165-4EEE-BFCF-CB04E27601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558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2796-5687-4F80-BE49-3B313A772951}" type="datetimeFigureOut">
              <a:rPr lang="zh-CN" altLang="en-US" smtClean="0"/>
              <a:t>2014/7/4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0AFA-6165-4EEE-BFCF-CB04E27601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63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2796-5687-4F80-BE49-3B313A772951}" type="datetimeFigureOut">
              <a:rPr lang="zh-CN" altLang="en-US" smtClean="0"/>
              <a:t>2014/7/4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0AFA-6165-4EEE-BFCF-CB04E27601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984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2796-5687-4F80-BE49-3B313A772951}" type="datetimeFigureOut">
              <a:rPr lang="zh-CN" altLang="en-US" smtClean="0"/>
              <a:t>2014/7/4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0AFA-6165-4EEE-BFCF-CB04E27601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170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2796-5687-4F80-BE49-3B313A772951}" type="datetimeFigureOut">
              <a:rPr lang="zh-CN" altLang="en-US" smtClean="0"/>
              <a:t>2014/7/4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0AFA-6165-4EEE-BFCF-CB04E27601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245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D2796-5687-4F80-BE49-3B313A772951}" type="datetimeFigureOut">
              <a:rPr lang="zh-CN" altLang="en-US" smtClean="0"/>
              <a:t>2014/7/4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50AFA-6165-4EEE-BFCF-CB04E27601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51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C Preprocessor Overview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吴争锴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426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条件语句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 smtClean="0"/>
              <a:t>#if </a:t>
            </a:r>
            <a:r>
              <a:rPr lang="en-US" altLang="zh-CN" dirty="0" err="1" smtClean="0"/>
              <a:t>const</a:t>
            </a:r>
            <a:r>
              <a:rPr lang="en-US" altLang="zh-CN" dirty="0" smtClean="0"/>
              <a:t>-expr new-line group</a:t>
            </a:r>
          </a:p>
          <a:p>
            <a:r>
              <a:rPr lang="en-US" altLang="zh-CN" dirty="0" smtClean="0"/>
              <a:t>#</a:t>
            </a:r>
            <a:r>
              <a:rPr lang="en-US" altLang="zh-CN" dirty="0" err="1" smtClean="0"/>
              <a:t>elif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const</a:t>
            </a:r>
            <a:r>
              <a:rPr lang="en-US" altLang="zh-CN" dirty="0" smtClean="0"/>
              <a:t>-expr new-line group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Unary Op: defined x/(x)</a:t>
            </a:r>
          </a:p>
          <a:p>
            <a:endParaRPr lang="en-US" altLang="zh-CN" dirty="0"/>
          </a:p>
          <a:p>
            <a:r>
              <a:rPr lang="zh-CN" altLang="en-US" dirty="0" smtClean="0"/>
              <a:t>首先替换宏名（除了</a:t>
            </a:r>
            <a:r>
              <a:rPr lang="en-US" altLang="zh-CN" dirty="0" smtClean="0"/>
              <a:t>defined </a:t>
            </a:r>
            <a:r>
              <a:rPr lang="zh-CN" altLang="en-US" dirty="0" smtClean="0"/>
              <a:t>后的名字）</a:t>
            </a:r>
            <a:endParaRPr lang="en-US" altLang="zh-CN" dirty="0"/>
          </a:p>
          <a:p>
            <a:r>
              <a:rPr lang="zh-CN" altLang="en-US" dirty="0" smtClean="0"/>
              <a:t>然后计算</a:t>
            </a:r>
            <a:r>
              <a:rPr lang="en-US" altLang="zh-CN" dirty="0" smtClean="0"/>
              <a:t>defined</a:t>
            </a:r>
          </a:p>
          <a:p>
            <a:r>
              <a:rPr lang="zh-CN" altLang="en-US" dirty="0" smtClean="0"/>
              <a:t>最后求值，所有的标示符当成</a:t>
            </a:r>
            <a:r>
              <a:rPr lang="en-US" altLang="zh-CN" dirty="0" smtClean="0"/>
              <a:t>0</a:t>
            </a:r>
            <a:r>
              <a:rPr lang="zh-CN" altLang="en-US" dirty="0" smtClean="0"/>
              <a:t>（字符常量的值由实现决定）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9966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条件语句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#</a:t>
            </a:r>
            <a:r>
              <a:rPr lang="en-US" altLang="zh-CN" dirty="0" err="1" smtClean="0"/>
              <a:t>ifdef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iden</a:t>
            </a:r>
            <a:r>
              <a:rPr lang="en-US" altLang="zh-CN" dirty="0" smtClean="0"/>
              <a:t> = #if </a:t>
            </a:r>
            <a:r>
              <a:rPr lang="en-US" altLang="zh-CN" dirty="0" err="1" smtClean="0"/>
              <a:t>defind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iden</a:t>
            </a:r>
            <a:endParaRPr lang="en-US" altLang="zh-CN" dirty="0" smtClean="0"/>
          </a:p>
          <a:p>
            <a:r>
              <a:rPr lang="en-US" altLang="zh-CN" dirty="0" smtClean="0"/>
              <a:t>#</a:t>
            </a:r>
            <a:r>
              <a:rPr lang="en-US" altLang="zh-CN" dirty="0" err="1" smtClean="0"/>
              <a:t>ifndef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iden</a:t>
            </a:r>
            <a:r>
              <a:rPr lang="en-US" altLang="zh-CN" dirty="0" smtClean="0"/>
              <a:t> = #if ! Defined </a:t>
            </a:r>
            <a:r>
              <a:rPr lang="en-US" altLang="zh-CN" dirty="0" err="1" smtClean="0"/>
              <a:t>iden</a:t>
            </a:r>
            <a:endParaRPr lang="en-US" altLang="zh-CN" dirty="0" smtClean="0"/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035646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文件包含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#include “”</a:t>
            </a:r>
          </a:p>
          <a:p>
            <a:r>
              <a:rPr lang="en-US" altLang="zh-CN" dirty="0" smtClean="0"/>
              <a:t>#include &lt;&gt;</a:t>
            </a:r>
          </a:p>
          <a:p>
            <a:endParaRPr lang="en-US" altLang="zh-CN" dirty="0"/>
          </a:p>
          <a:p>
            <a:r>
              <a:rPr lang="zh-CN" altLang="en-US" dirty="0" smtClean="0"/>
              <a:t>若不符合以上规则，则在所有宏完成替换后，需要符合两者之一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4934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宏 </a:t>
            </a:r>
            <a:r>
              <a:rPr lang="en-US" altLang="zh-CN" dirty="0" smtClean="0"/>
              <a:t>object-like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#define </a:t>
            </a:r>
            <a:r>
              <a:rPr lang="en-US" altLang="zh-CN" dirty="0" err="1" smtClean="0"/>
              <a:t>iden</a:t>
            </a:r>
            <a:r>
              <a:rPr lang="en-US" altLang="zh-CN" dirty="0" smtClean="0"/>
              <a:t> replace-list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9317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宏 </a:t>
            </a:r>
            <a:r>
              <a:rPr lang="en-US" altLang="zh-CN" dirty="0" err="1" smtClean="0"/>
              <a:t>funtion</a:t>
            </a:r>
            <a:r>
              <a:rPr lang="en-US" altLang="zh-CN" dirty="0" smtClean="0"/>
              <a:t>-like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#define </a:t>
            </a:r>
            <a:r>
              <a:rPr lang="en-US" altLang="zh-CN" dirty="0" err="1" smtClean="0"/>
              <a:t>iden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iden</a:t>
            </a:r>
            <a:r>
              <a:rPr lang="en-US" altLang="zh-CN" dirty="0" smtClean="0"/>
              <a:t>-list) replace-list</a:t>
            </a:r>
          </a:p>
          <a:p>
            <a:r>
              <a:rPr lang="en-US" altLang="zh-CN" dirty="0" smtClean="0"/>
              <a:t>#define </a:t>
            </a:r>
            <a:r>
              <a:rPr lang="en-US" altLang="zh-CN" dirty="0" err="1" smtClean="0"/>
              <a:t>iden</a:t>
            </a:r>
            <a:r>
              <a:rPr lang="en-US" altLang="zh-CN" dirty="0" smtClean="0"/>
              <a:t>(…) replace-list</a:t>
            </a:r>
          </a:p>
          <a:p>
            <a:r>
              <a:rPr lang="en-US" altLang="zh-CN" dirty="0" smtClean="0"/>
              <a:t>#define </a:t>
            </a:r>
            <a:r>
              <a:rPr lang="en-US" altLang="zh-CN" dirty="0" err="1" smtClean="0"/>
              <a:t>iden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iden</a:t>
            </a:r>
            <a:r>
              <a:rPr lang="en-US" altLang="zh-CN" dirty="0" smtClean="0"/>
              <a:t>-list,…) replace-list</a:t>
            </a:r>
          </a:p>
          <a:p>
            <a:endParaRPr lang="en-US" altLang="zh-CN" dirty="0"/>
          </a:p>
          <a:p>
            <a:r>
              <a:rPr lang="en-US" altLang="zh-CN" dirty="0" smtClean="0"/>
              <a:t>…</a:t>
            </a:r>
            <a:r>
              <a:rPr lang="zh-CN" altLang="en-US" dirty="0" smtClean="0"/>
              <a:t>在</a:t>
            </a:r>
            <a:r>
              <a:rPr lang="en-US" altLang="zh-CN" dirty="0" smtClean="0"/>
              <a:t>replace-list</a:t>
            </a:r>
            <a:r>
              <a:rPr lang="zh-CN" altLang="en-US" dirty="0" smtClean="0"/>
              <a:t>中用</a:t>
            </a:r>
            <a:r>
              <a:rPr lang="en-US" altLang="zh-CN" dirty="0" smtClean="0"/>
              <a:t>__VA_ARGS__</a:t>
            </a:r>
            <a:r>
              <a:rPr lang="zh-CN" altLang="en-US" dirty="0" smtClean="0"/>
              <a:t>表示。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7375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宏 </a:t>
            </a:r>
            <a:r>
              <a:rPr lang="en-US" altLang="zh-CN" dirty="0" smtClean="0"/>
              <a:t>#</a:t>
            </a:r>
            <a:r>
              <a:rPr lang="zh-CN" altLang="en-US" dirty="0" smtClean="0"/>
              <a:t>和</a:t>
            </a:r>
            <a:r>
              <a:rPr lang="en-US" altLang="zh-CN" dirty="0" smtClean="0"/>
              <a:t>##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# </a:t>
            </a:r>
            <a:r>
              <a:rPr lang="en-US" altLang="zh-CN" dirty="0" err="1" smtClean="0"/>
              <a:t>iden</a:t>
            </a:r>
            <a:endParaRPr lang="en-US" altLang="zh-CN" dirty="0" smtClean="0"/>
          </a:p>
          <a:p>
            <a:r>
              <a:rPr lang="zh-CN" altLang="en-US" dirty="0" smtClean="0"/>
              <a:t>对后面的</a:t>
            </a:r>
            <a:r>
              <a:rPr lang="en-US" altLang="zh-CN" dirty="0" err="1" smtClean="0"/>
              <a:t>iden</a:t>
            </a:r>
            <a:r>
              <a:rPr lang="zh-CN" altLang="en-US" dirty="0" smtClean="0"/>
              <a:t>加引号，其中</a:t>
            </a:r>
            <a:r>
              <a:rPr lang="en-US" altLang="zh-CN" dirty="0" smtClean="0"/>
              <a:t>”-&gt;\”,\-&gt;\\</a:t>
            </a:r>
          </a:p>
          <a:p>
            <a:endParaRPr lang="en-US" altLang="zh-CN" dirty="0"/>
          </a:p>
          <a:p>
            <a:r>
              <a:rPr lang="en-US" altLang="zh-CN" dirty="0" smtClean="0"/>
              <a:t>## </a:t>
            </a:r>
            <a:r>
              <a:rPr lang="zh-CN" altLang="en-US" dirty="0" smtClean="0"/>
              <a:t>连词符</a:t>
            </a:r>
            <a:endParaRPr lang="en-US" altLang="zh-CN" dirty="0" smtClean="0"/>
          </a:p>
          <a:p>
            <a:r>
              <a:rPr lang="zh-CN" altLang="en-US" dirty="0" smtClean="0"/>
              <a:t>顺序未规定</a:t>
            </a:r>
            <a:endParaRPr lang="en-US" altLang="zh-CN" dirty="0" smtClean="0"/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2769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宏 </a:t>
            </a:r>
            <a:r>
              <a:rPr lang="en-US" altLang="zh-CN" dirty="0" smtClean="0"/>
              <a:t>#</a:t>
            </a:r>
            <a:r>
              <a:rPr lang="zh-CN" altLang="en-US" dirty="0" smtClean="0"/>
              <a:t>和</a:t>
            </a:r>
            <a:r>
              <a:rPr lang="en-US" altLang="zh-CN" dirty="0" smtClean="0"/>
              <a:t>##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CN" dirty="0"/>
              <a:t>Example:</a:t>
            </a:r>
          </a:p>
          <a:p>
            <a:r>
              <a:rPr lang="en-US" altLang="zh-CN" dirty="0"/>
              <a:t>#define </a:t>
            </a:r>
            <a:r>
              <a:rPr lang="en-US" altLang="zh-CN" dirty="0" err="1"/>
              <a:t>hash_hash</a:t>
            </a:r>
            <a:r>
              <a:rPr lang="en-US" altLang="zh-CN" dirty="0"/>
              <a:t> # ## #</a:t>
            </a:r>
          </a:p>
          <a:p>
            <a:r>
              <a:rPr lang="en-US" altLang="zh-CN" dirty="0"/>
              <a:t>#define </a:t>
            </a:r>
            <a:r>
              <a:rPr lang="en-US" altLang="zh-CN" dirty="0" err="1"/>
              <a:t>mkstr</a:t>
            </a:r>
            <a:r>
              <a:rPr lang="en-US" altLang="zh-CN" dirty="0"/>
              <a:t>(a) # a</a:t>
            </a:r>
          </a:p>
          <a:p>
            <a:r>
              <a:rPr lang="en-US" altLang="zh-CN" dirty="0"/>
              <a:t>#define </a:t>
            </a:r>
            <a:r>
              <a:rPr lang="en-US" altLang="zh-CN" dirty="0" err="1"/>
              <a:t>in_between</a:t>
            </a:r>
            <a:r>
              <a:rPr lang="en-US" altLang="zh-CN" dirty="0"/>
              <a:t>(a) </a:t>
            </a:r>
            <a:r>
              <a:rPr lang="en-US" altLang="zh-CN" dirty="0" err="1"/>
              <a:t>mkstr</a:t>
            </a:r>
            <a:r>
              <a:rPr lang="en-US" altLang="zh-CN" dirty="0"/>
              <a:t>(a)</a:t>
            </a:r>
          </a:p>
          <a:p>
            <a:r>
              <a:rPr lang="en-US" altLang="zh-CN" dirty="0"/>
              <a:t>#define join(c, d) </a:t>
            </a:r>
            <a:r>
              <a:rPr lang="en-US" altLang="zh-CN" dirty="0" err="1"/>
              <a:t>in_between</a:t>
            </a:r>
            <a:r>
              <a:rPr lang="en-US" altLang="zh-CN" dirty="0"/>
              <a:t>(c </a:t>
            </a:r>
            <a:r>
              <a:rPr lang="en-US" altLang="zh-CN" dirty="0" err="1"/>
              <a:t>hash_hash</a:t>
            </a:r>
            <a:r>
              <a:rPr lang="en-US" altLang="zh-CN" dirty="0"/>
              <a:t> d)</a:t>
            </a:r>
          </a:p>
          <a:p>
            <a:r>
              <a:rPr lang="en-US" altLang="zh-CN" dirty="0"/>
              <a:t>char p[] = join(x, y); // equivalent to</a:t>
            </a:r>
          </a:p>
          <a:p>
            <a:r>
              <a:rPr lang="en-US" altLang="zh-CN" dirty="0"/>
              <a:t>// char p[] = "x ## y";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替换过程：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join(x, y)</a:t>
            </a:r>
          </a:p>
          <a:p>
            <a:pPr marL="0" indent="0">
              <a:buNone/>
            </a:pPr>
            <a:r>
              <a:rPr lang="en-US" altLang="zh-CN" dirty="0" err="1"/>
              <a:t>in_between</a:t>
            </a:r>
            <a:r>
              <a:rPr lang="en-US" altLang="zh-CN" dirty="0"/>
              <a:t>(x </a:t>
            </a:r>
            <a:r>
              <a:rPr lang="en-US" altLang="zh-CN" dirty="0" err="1"/>
              <a:t>hash_hash</a:t>
            </a:r>
            <a:r>
              <a:rPr lang="en-US" altLang="zh-CN" dirty="0"/>
              <a:t> y)</a:t>
            </a:r>
          </a:p>
          <a:p>
            <a:pPr marL="0" indent="0">
              <a:buNone/>
            </a:pPr>
            <a:r>
              <a:rPr lang="en-US" altLang="zh-CN" dirty="0" err="1"/>
              <a:t>in_between</a:t>
            </a:r>
            <a:r>
              <a:rPr lang="en-US" altLang="zh-CN" dirty="0"/>
              <a:t>(x ## y)</a:t>
            </a:r>
          </a:p>
          <a:p>
            <a:pPr marL="0" indent="0">
              <a:buNone/>
            </a:pPr>
            <a:r>
              <a:rPr lang="en-US" altLang="zh-CN" dirty="0" err="1"/>
              <a:t>mkstr</a:t>
            </a:r>
            <a:r>
              <a:rPr lang="en-US" altLang="zh-CN" dirty="0"/>
              <a:t>(x ## y)</a:t>
            </a:r>
          </a:p>
          <a:p>
            <a:pPr marL="0" indent="0">
              <a:buNone/>
            </a:pPr>
            <a:r>
              <a:rPr lang="en-US" altLang="zh-CN" dirty="0"/>
              <a:t>"x ## y"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2165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宏 嵌套处理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首先处理所有的变量替换以及</a:t>
            </a:r>
            <a:r>
              <a:rPr lang="en-US" altLang="zh-CN" dirty="0" smtClean="0"/>
              <a:t>#</a:t>
            </a:r>
            <a:r>
              <a:rPr lang="zh-CN" altLang="en-US" dirty="0" smtClean="0"/>
              <a:t>和</a:t>
            </a:r>
            <a:r>
              <a:rPr lang="en-US" altLang="zh-CN" dirty="0" smtClean="0"/>
              <a:t>##</a:t>
            </a:r>
            <a:r>
              <a:rPr lang="zh-CN" altLang="en-US" dirty="0" smtClean="0"/>
              <a:t>操作符</a:t>
            </a:r>
            <a:endParaRPr lang="en-US" altLang="zh-CN" dirty="0" smtClean="0"/>
          </a:p>
          <a:p>
            <a:r>
              <a:rPr lang="zh-CN" altLang="en-US" dirty="0" smtClean="0"/>
              <a:t>然后进行重新扫描</a:t>
            </a:r>
            <a:endParaRPr lang="en-US" altLang="zh-CN" dirty="0" smtClean="0"/>
          </a:p>
          <a:p>
            <a:r>
              <a:rPr lang="zh-CN" altLang="en-US" dirty="0" smtClean="0"/>
              <a:t>如果一个宏在该处理段的替换过程中已经出现过，则不再进行下一步替换</a:t>
            </a:r>
            <a:endParaRPr lang="en-US" altLang="zh-CN" dirty="0" smtClean="0"/>
          </a:p>
          <a:p>
            <a:r>
              <a:rPr lang="zh-CN" altLang="en-US" dirty="0" smtClean="0"/>
              <a:t>如果替换后产生新的预处理指令，不进行处理，除了</a:t>
            </a:r>
            <a:r>
              <a:rPr lang="en-US" altLang="zh-CN" dirty="0" smtClean="0"/>
              <a:t>pragma</a:t>
            </a:r>
          </a:p>
        </p:txBody>
      </p:sp>
    </p:spTree>
    <p:extLst>
      <p:ext uri="{BB962C8B-B14F-4D97-AF65-F5344CB8AC3E}">
        <p14:creationId xmlns:p14="http://schemas.microsoft.com/office/powerpoint/2010/main" val="3431219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Sample1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CN" dirty="0"/>
              <a:t>#define x 3</a:t>
            </a:r>
          </a:p>
          <a:p>
            <a:r>
              <a:rPr lang="en-US" altLang="zh-CN" dirty="0"/>
              <a:t>#define f(a) f(x * (a))</a:t>
            </a:r>
          </a:p>
          <a:p>
            <a:r>
              <a:rPr lang="en-US" altLang="zh-CN" dirty="0"/>
              <a:t>#</a:t>
            </a:r>
            <a:r>
              <a:rPr lang="en-US" altLang="zh-CN" dirty="0" err="1"/>
              <a:t>undef</a:t>
            </a:r>
            <a:r>
              <a:rPr lang="en-US" altLang="zh-CN" dirty="0"/>
              <a:t> x</a:t>
            </a:r>
          </a:p>
          <a:p>
            <a:r>
              <a:rPr lang="en-US" altLang="zh-CN" dirty="0"/>
              <a:t>#define x 2</a:t>
            </a:r>
          </a:p>
          <a:p>
            <a:r>
              <a:rPr lang="en-US" altLang="zh-CN" dirty="0"/>
              <a:t>#define g f</a:t>
            </a:r>
          </a:p>
          <a:p>
            <a:r>
              <a:rPr lang="en-US" altLang="zh-CN" dirty="0"/>
              <a:t>#define z z[0]</a:t>
            </a:r>
          </a:p>
          <a:p>
            <a:r>
              <a:rPr lang="en-US" altLang="zh-CN" dirty="0"/>
              <a:t>#define h g(~</a:t>
            </a:r>
          </a:p>
          <a:p>
            <a:r>
              <a:rPr lang="en-US" altLang="zh-CN" dirty="0"/>
              <a:t>#define m(a) a(w)</a:t>
            </a:r>
          </a:p>
          <a:p>
            <a:r>
              <a:rPr lang="en-US" altLang="zh-CN" dirty="0"/>
              <a:t>#define w 0,1</a:t>
            </a:r>
          </a:p>
          <a:p>
            <a:r>
              <a:rPr lang="en-US" altLang="zh-CN" dirty="0"/>
              <a:t>#define t(a) a</a:t>
            </a:r>
          </a:p>
          <a:p>
            <a:r>
              <a:rPr lang="en-US" altLang="zh-CN" dirty="0"/>
              <a:t>#define p() </a:t>
            </a:r>
            <a:r>
              <a:rPr lang="en-US" altLang="zh-CN" dirty="0" err="1"/>
              <a:t>int</a:t>
            </a:r>
            <a:endParaRPr lang="en-US" altLang="zh-CN" dirty="0"/>
          </a:p>
          <a:p>
            <a:r>
              <a:rPr lang="en-US" altLang="zh-CN" dirty="0"/>
              <a:t>#define q(x) x</a:t>
            </a:r>
          </a:p>
          <a:p>
            <a:r>
              <a:rPr lang="en-US" altLang="zh-CN" dirty="0"/>
              <a:t>#define r(</a:t>
            </a:r>
            <a:r>
              <a:rPr lang="en-US" altLang="zh-CN" dirty="0" err="1"/>
              <a:t>x,y</a:t>
            </a:r>
            <a:r>
              <a:rPr lang="en-US" altLang="zh-CN" dirty="0"/>
              <a:t>) x ## y</a:t>
            </a:r>
          </a:p>
          <a:p>
            <a:r>
              <a:rPr lang="en-US" altLang="zh-CN" dirty="0"/>
              <a:t>#define </a:t>
            </a:r>
            <a:r>
              <a:rPr lang="en-US" altLang="zh-CN" dirty="0" err="1"/>
              <a:t>str</a:t>
            </a:r>
            <a:r>
              <a:rPr lang="en-US" altLang="zh-CN" dirty="0"/>
              <a:t>(x) # x</a:t>
            </a:r>
          </a:p>
          <a:p>
            <a:r>
              <a:rPr lang="en-US" altLang="zh-CN" dirty="0"/>
              <a:t>f(y+1) + f(f(z)) % t(t(g)(0) + t)(1);</a:t>
            </a:r>
          </a:p>
          <a:p>
            <a:r>
              <a:rPr lang="en-US" altLang="zh-CN" dirty="0"/>
              <a:t>g(x+(3,4)-w) | h 5) &amp; m</a:t>
            </a:r>
          </a:p>
          <a:p>
            <a:r>
              <a:rPr lang="en-US" altLang="zh-CN" dirty="0"/>
              <a:t>(f)^m(m);</a:t>
            </a:r>
          </a:p>
          <a:p>
            <a:r>
              <a:rPr lang="en-US" altLang="zh-CN" dirty="0"/>
              <a:t>p() </a:t>
            </a:r>
            <a:r>
              <a:rPr lang="en-US" altLang="zh-CN" dirty="0" err="1"/>
              <a:t>i</a:t>
            </a:r>
            <a:r>
              <a:rPr lang="en-US" altLang="zh-CN" dirty="0"/>
              <a:t>[q()] = { q(1), r(2,3), r(4,), r(,5), r(,) };</a:t>
            </a:r>
          </a:p>
          <a:p>
            <a:r>
              <a:rPr lang="en-US" altLang="zh-CN" dirty="0"/>
              <a:t>char c[2][6] = { </a:t>
            </a:r>
            <a:r>
              <a:rPr lang="en-US" altLang="zh-CN" dirty="0" err="1"/>
              <a:t>str</a:t>
            </a:r>
            <a:r>
              <a:rPr lang="en-US" altLang="zh-CN" dirty="0"/>
              <a:t>(hello), </a:t>
            </a:r>
            <a:r>
              <a:rPr lang="en-US" altLang="zh-CN" dirty="0" err="1"/>
              <a:t>str</a:t>
            </a:r>
            <a:r>
              <a:rPr lang="en-US" altLang="zh-CN" dirty="0"/>
              <a:t>() };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067944" y="4581128"/>
            <a:ext cx="48965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f(2 * (y+1)) + f(2 * (f(2 * (z[0])))) % f(2 * (0)) + t(1);</a:t>
            </a:r>
          </a:p>
          <a:p>
            <a:r>
              <a:rPr lang="en-US" altLang="zh-CN" dirty="0"/>
              <a:t>f(2 * (2+(3,4)-0,1)) | f(2 * (~ 5)) &amp; f(2 * (0,1))^m(0,1);</a:t>
            </a:r>
          </a:p>
          <a:p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[] = { 1, 23, 4, 5, };</a:t>
            </a:r>
          </a:p>
          <a:p>
            <a:r>
              <a:rPr lang="en-US" altLang="zh-CN" dirty="0"/>
              <a:t>char c[2][6] = { "hello", "" };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9076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Sample2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zh-CN" dirty="0"/>
              <a:t>#define </a:t>
            </a:r>
            <a:r>
              <a:rPr lang="en-US" altLang="zh-CN" dirty="0" err="1"/>
              <a:t>str</a:t>
            </a:r>
            <a:r>
              <a:rPr lang="en-US" altLang="zh-CN" dirty="0"/>
              <a:t>(s) # s</a:t>
            </a:r>
          </a:p>
          <a:p>
            <a:r>
              <a:rPr lang="en-US" altLang="zh-CN" dirty="0"/>
              <a:t>#define </a:t>
            </a:r>
            <a:r>
              <a:rPr lang="en-US" altLang="zh-CN" dirty="0" err="1"/>
              <a:t>xstr</a:t>
            </a:r>
            <a:r>
              <a:rPr lang="en-US" altLang="zh-CN" dirty="0"/>
              <a:t>(s) </a:t>
            </a:r>
            <a:r>
              <a:rPr lang="en-US" altLang="zh-CN" dirty="0" err="1"/>
              <a:t>str</a:t>
            </a:r>
            <a:r>
              <a:rPr lang="en-US" altLang="zh-CN" dirty="0"/>
              <a:t>(s)</a:t>
            </a:r>
          </a:p>
          <a:p>
            <a:r>
              <a:rPr lang="en-US" altLang="zh-CN" dirty="0"/>
              <a:t>#define debug(s, t) </a:t>
            </a:r>
            <a:r>
              <a:rPr lang="en-US" altLang="zh-CN" dirty="0" err="1"/>
              <a:t>printf</a:t>
            </a:r>
            <a:r>
              <a:rPr lang="en-US" altLang="zh-CN" dirty="0"/>
              <a:t>("x" # s "= %d, x" # t "= %s", \</a:t>
            </a:r>
          </a:p>
          <a:p>
            <a:r>
              <a:rPr lang="en-US" altLang="zh-CN" dirty="0"/>
              <a:t>x ## s, x ## t)</a:t>
            </a:r>
          </a:p>
          <a:p>
            <a:r>
              <a:rPr lang="en-US" altLang="zh-CN" dirty="0"/>
              <a:t>#define INCFILE(n) </a:t>
            </a:r>
            <a:r>
              <a:rPr lang="en-US" altLang="zh-CN" dirty="0" err="1"/>
              <a:t>vers</a:t>
            </a:r>
            <a:r>
              <a:rPr lang="en-US" altLang="zh-CN" dirty="0"/>
              <a:t> ## n</a:t>
            </a:r>
          </a:p>
          <a:p>
            <a:r>
              <a:rPr lang="en-US" altLang="zh-CN" dirty="0"/>
              <a:t>#define glue(a, b) a ## b</a:t>
            </a:r>
          </a:p>
          <a:p>
            <a:r>
              <a:rPr lang="en-US" altLang="zh-CN" dirty="0"/>
              <a:t>#define </a:t>
            </a:r>
            <a:r>
              <a:rPr lang="en-US" altLang="zh-CN" dirty="0" err="1"/>
              <a:t>xglue</a:t>
            </a:r>
            <a:r>
              <a:rPr lang="en-US" altLang="zh-CN" dirty="0"/>
              <a:t>(a, b) glue(a, b)</a:t>
            </a:r>
          </a:p>
          <a:p>
            <a:r>
              <a:rPr lang="en-US" altLang="zh-CN" dirty="0"/>
              <a:t>#define HIGHLOW "hello"</a:t>
            </a:r>
          </a:p>
          <a:p>
            <a:r>
              <a:rPr lang="en-US" altLang="zh-CN" dirty="0"/>
              <a:t>#define LOW </a:t>
            </a:r>
            <a:r>
              <a:rPr lang="en-US" altLang="zh-CN" dirty="0" err="1"/>
              <a:t>LOW</a:t>
            </a:r>
            <a:r>
              <a:rPr lang="en-US" altLang="zh-CN" dirty="0"/>
              <a:t> ", world"</a:t>
            </a:r>
          </a:p>
          <a:p>
            <a:r>
              <a:rPr lang="en-US" altLang="zh-CN" dirty="0"/>
              <a:t>debug(1, 2);</a:t>
            </a:r>
          </a:p>
          <a:p>
            <a:r>
              <a:rPr lang="en-US" altLang="zh-CN" dirty="0" err="1"/>
              <a:t>fputs</a:t>
            </a:r>
            <a:r>
              <a:rPr lang="en-US" altLang="zh-CN" dirty="0"/>
              <a:t>(</a:t>
            </a:r>
            <a:r>
              <a:rPr lang="en-US" altLang="zh-CN" dirty="0" err="1"/>
              <a:t>str</a:t>
            </a:r>
            <a:r>
              <a:rPr lang="en-US" altLang="zh-CN" dirty="0"/>
              <a:t>(</a:t>
            </a:r>
            <a:r>
              <a:rPr lang="en-US" altLang="zh-CN" dirty="0" err="1"/>
              <a:t>strncmp</a:t>
            </a:r>
            <a:r>
              <a:rPr lang="en-US" altLang="zh-CN" dirty="0"/>
              <a:t>("</a:t>
            </a:r>
            <a:r>
              <a:rPr lang="en-US" altLang="zh-CN" dirty="0" err="1"/>
              <a:t>abc</a:t>
            </a:r>
            <a:r>
              <a:rPr lang="en-US" altLang="zh-CN" dirty="0"/>
              <a:t>\0d", "</a:t>
            </a:r>
            <a:r>
              <a:rPr lang="en-US" altLang="zh-CN" dirty="0" err="1"/>
              <a:t>abc</a:t>
            </a:r>
            <a:r>
              <a:rPr lang="en-US" altLang="zh-CN" dirty="0"/>
              <a:t>", '\4') // this goes away</a:t>
            </a:r>
          </a:p>
          <a:p>
            <a:r>
              <a:rPr lang="en-US" altLang="zh-CN" dirty="0"/>
              <a:t>== 0) </a:t>
            </a:r>
            <a:r>
              <a:rPr lang="en-US" altLang="zh-CN" dirty="0" err="1"/>
              <a:t>str</a:t>
            </a:r>
            <a:r>
              <a:rPr lang="en-US" altLang="zh-CN" dirty="0"/>
              <a:t>(: @\n), s);</a:t>
            </a:r>
          </a:p>
          <a:p>
            <a:r>
              <a:rPr lang="en-US" altLang="zh-CN" dirty="0"/>
              <a:t>#include </a:t>
            </a:r>
            <a:r>
              <a:rPr lang="en-US" altLang="zh-CN" dirty="0" err="1"/>
              <a:t>xstr</a:t>
            </a:r>
            <a:r>
              <a:rPr lang="en-US" altLang="zh-CN" dirty="0"/>
              <a:t>(INCFILE(2).h)</a:t>
            </a:r>
          </a:p>
          <a:p>
            <a:r>
              <a:rPr lang="en-US" altLang="zh-CN" dirty="0"/>
              <a:t>glue(HIGH, LOW);</a:t>
            </a:r>
          </a:p>
          <a:p>
            <a:r>
              <a:rPr lang="en-US" altLang="zh-CN" dirty="0" err="1"/>
              <a:t>xglue</a:t>
            </a:r>
            <a:r>
              <a:rPr lang="en-US" altLang="zh-CN" dirty="0"/>
              <a:t>(HIGH, LOW)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347864" y="4581128"/>
            <a:ext cx="615424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printf</a:t>
            </a:r>
            <a:r>
              <a:rPr lang="en-US" altLang="zh-CN" dirty="0"/>
              <a:t>("x" "1" "= %d, x" "2" "= %s", x1, x2);</a:t>
            </a:r>
          </a:p>
          <a:p>
            <a:r>
              <a:rPr lang="en-US" altLang="zh-CN" dirty="0" err="1"/>
              <a:t>fputs</a:t>
            </a:r>
            <a:r>
              <a:rPr lang="en-US" altLang="zh-CN" dirty="0"/>
              <a:t>(</a:t>
            </a:r>
          </a:p>
          <a:p>
            <a:r>
              <a:rPr lang="en-US" altLang="zh-CN" dirty="0"/>
              <a:t>"</a:t>
            </a:r>
            <a:r>
              <a:rPr lang="en-US" altLang="zh-CN" dirty="0" err="1"/>
              <a:t>strncmp</a:t>
            </a:r>
            <a:r>
              <a:rPr lang="en-US" altLang="zh-CN" dirty="0"/>
              <a:t>(\"</a:t>
            </a:r>
            <a:r>
              <a:rPr lang="en-US" altLang="zh-CN" dirty="0" err="1"/>
              <a:t>abc</a:t>
            </a:r>
            <a:r>
              <a:rPr lang="en-US" altLang="zh-CN" dirty="0"/>
              <a:t>\\0d\", \"</a:t>
            </a:r>
            <a:r>
              <a:rPr lang="en-US" altLang="zh-CN" dirty="0" err="1"/>
              <a:t>abc</a:t>
            </a:r>
            <a:r>
              <a:rPr lang="en-US" altLang="zh-CN" dirty="0"/>
              <a:t>\", '\\4') == 0" ": @\n",</a:t>
            </a:r>
          </a:p>
          <a:p>
            <a:r>
              <a:rPr lang="en-US" altLang="zh-CN" dirty="0"/>
              <a:t>s);</a:t>
            </a:r>
          </a:p>
          <a:p>
            <a:r>
              <a:rPr lang="en-US" altLang="zh-CN" dirty="0"/>
              <a:t>#include "vers2.h" (after macro replacement, before ﬁle access)</a:t>
            </a:r>
          </a:p>
          <a:p>
            <a:r>
              <a:rPr lang="en-US" altLang="zh-CN" dirty="0"/>
              <a:t>"hello";</a:t>
            </a:r>
          </a:p>
          <a:p>
            <a:r>
              <a:rPr lang="en-US" altLang="zh-CN" dirty="0"/>
              <a:t>"hello" ", world"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201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Sample3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#define t(</a:t>
            </a:r>
            <a:r>
              <a:rPr lang="en-US" altLang="zh-CN" dirty="0" err="1"/>
              <a:t>x,y,z</a:t>
            </a:r>
            <a:r>
              <a:rPr lang="en-US" altLang="zh-CN" dirty="0"/>
              <a:t>) x ## y ## z</a:t>
            </a:r>
          </a:p>
          <a:p>
            <a:r>
              <a:rPr lang="en-US" altLang="zh-CN" dirty="0" err="1"/>
              <a:t>int</a:t>
            </a:r>
            <a:r>
              <a:rPr lang="en-US" altLang="zh-CN" dirty="0"/>
              <a:t> j[] = { t(1,2,3), t(,4,5), t(6,,7), t(8,9,),</a:t>
            </a:r>
          </a:p>
          <a:p>
            <a:r>
              <a:rPr lang="en-US" altLang="zh-CN" dirty="0"/>
              <a:t>t(10,,), t(,11,), t(,,12), t(,,) };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99592" y="3724562"/>
            <a:ext cx="60486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/>
              <a:t>int</a:t>
            </a:r>
            <a:r>
              <a:rPr lang="en-US" altLang="zh-CN" sz="3600" dirty="0"/>
              <a:t> j[] = { 123, 45, 67, 89,</a:t>
            </a:r>
          </a:p>
          <a:p>
            <a:r>
              <a:rPr lang="en-US" altLang="zh-CN" sz="3600" dirty="0"/>
              <a:t>10, 11, 12, };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79646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Sample4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900" dirty="0"/>
              <a:t>#define debug(...) </a:t>
            </a:r>
            <a:r>
              <a:rPr lang="en-US" altLang="zh-CN" sz="1900" dirty="0" err="1"/>
              <a:t>fprintf</a:t>
            </a:r>
            <a:r>
              <a:rPr lang="en-US" altLang="zh-CN" sz="1900" dirty="0"/>
              <a:t>(</a:t>
            </a:r>
            <a:r>
              <a:rPr lang="en-US" altLang="zh-CN" sz="1900" dirty="0" err="1"/>
              <a:t>stderr</a:t>
            </a:r>
            <a:r>
              <a:rPr lang="en-US" altLang="zh-CN" sz="1900" dirty="0"/>
              <a:t>, _ _VA_ARGS_ _)</a:t>
            </a:r>
          </a:p>
          <a:p>
            <a:r>
              <a:rPr lang="en-US" altLang="zh-CN" sz="1900" dirty="0"/>
              <a:t>#define </a:t>
            </a:r>
            <a:r>
              <a:rPr lang="en-US" altLang="zh-CN" sz="1900" dirty="0" err="1"/>
              <a:t>showlist</a:t>
            </a:r>
            <a:r>
              <a:rPr lang="en-US" altLang="zh-CN" sz="1900" dirty="0"/>
              <a:t>(...) puts(#_ _VA_ARGS_ _)</a:t>
            </a:r>
          </a:p>
          <a:p>
            <a:r>
              <a:rPr lang="en-US" altLang="zh-CN" sz="1900" dirty="0"/>
              <a:t>#define report(test, ...) ((test)?puts(#test):\</a:t>
            </a:r>
          </a:p>
          <a:p>
            <a:r>
              <a:rPr lang="en-US" altLang="zh-CN" sz="1900" dirty="0" err="1"/>
              <a:t>printf</a:t>
            </a:r>
            <a:r>
              <a:rPr lang="en-US" altLang="zh-CN" sz="1900" dirty="0"/>
              <a:t>(_ _VA_ARGS_ _))</a:t>
            </a:r>
          </a:p>
          <a:p>
            <a:r>
              <a:rPr lang="en-US" altLang="zh-CN" sz="1900" dirty="0"/>
              <a:t>debug("Flag");</a:t>
            </a:r>
          </a:p>
          <a:p>
            <a:r>
              <a:rPr lang="en-US" altLang="zh-CN" sz="1900" dirty="0"/>
              <a:t>debug("X = %d\n", x);</a:t>
            </a:r>
          </a:p>
          <a:p>
            <a:r>
              <a:rPr lang="en-US" altLang="zh-CN" sz="1900" dirty="0" err="1"/>
              <a:t>showlist</a:t>
            </a:r>
            <a:r>
              <a:rPr lang="en-US" altLang="zh-CN" sz="1900" dirty="0"/>
              <a:t>(The first, second, and third items.);</a:t>
            </a:r>
          </a:p>
          <a:p>
            <a:r>
              <a:rPr lang="en-US" altLang="zh-CN" sz="1900" dirty="0"/>
              <a:t>report(x&gt;y, "x is %d but y is %d", x, y);</a:t>
            </a:r>
            <a:endParaRPr lang="zh-CN" altLang="en-US" sz="1900" dirty="0"/>
          </a:p>
          <a:p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63688" y="4509120"/>
            <a:ext cx="69127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fprintf</a:t>
            </a:r>
            <a:r>
              <a:rPr lang="en-US" altLang="zh-CN" sz="2000" dirty="0"/>
              <a:t>(</a:t>
            </a:r>
            <a:r>
              <a:rPr lang="en-US" altLang="zh-CN" sz="2000" dirty="0" err="1"/>
              <a:t>stderr</a:t>
            </a:r>
            <a:r>
              <a:rPr lang="en-US" altLang="zh-CN" sz="2000" dirty="0"/>
              <a:t>, "Flag" );</a:t>
            </a:r>
          </a:p>
          <a:p>
            <a:r>
              <a:rPr lang="en-US" altLang="zh-CN" sz="2000" dirty="0" err="1"/>
              <a:t>fprintf</a:t>
            </a:r>
            <a:r>
              <a:rPr lang="en-US" altLang="zh-CN" sz="2000" dirty="0"/>
              <a:t>(</a:t>
            </a:r>
            <a:r>
              <a:rPr lang="en-US" altLang="zh-CN" sz="2000" dirty="0" err="1"/>
              <a:t>stderr</a:t>
            </a:r>
            <a:r>
              <a:rPr lang="en-US" altLang="zh-CN" sz="2000" dirty="0"/>
              <a:t>, "X = %d\n", x );</a:t>
            </a:r>
          </a:p>
          <a:p>
            <a:r>
              <a:rPr lang="en-US" altLang="zh-CN" sz="2000" dirty="0"/>
              <a:t>puts( "The first, second, and third items." );</a:t>
            </a:r>
          </a:p>
          <a:p>
            <a:r>
              <a:rPr lang="en-US" altLang="zh-CN" sz="2000" dirty="0"/>
              <a:t>((x&gt;y)?puts("x&gt;y"):</a:t>
            </a:r>
          </a:p>
          <a:p>
            <a:r>
              <a:rPr lang="en-US" altLang="zh-CN" sz="2000" dirty="0" err="1"/>
              <a:t>printf</a:t>
            </a:r>
            <a:r>
              <a:rPr lang="en-US" altLang="zh-CN" sz="2000" dirty="0"/>
              <a:t>("x is %d but y is %d", x, y));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10078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行</a:t>
            </a:r>
            <a:r>
              <a:rPr lang="zh-CN" altLang="en-US" dirty="0" smtClean="0"/>
              <a:t>号标示符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#line number</a:t>
            </a:r>
          </a:p>
          <a:p>
            <a:r>
              <a:rPr lang="zh-CN" altLang="en-US" dirty="0" smtClean="0"/>
              <a:t>表示当前从该行号开始</a:t>
            </a:r>
            <a:endParaRPr lang="en-US" altLang="zh-CN" dirty="0" smtClean="0"/>
          </a:p>
          <a:p>
            <a:r>
              <a:rPr lang="en-US" altLang="zh-CN" dirty="0" smtClean="0"/>
              <a:t>#line number “file”</a:t>
            </a:r>
          </a:p>
          <a:p>
            <a:r>
              <a:rPr lang="zh-CN" altLang="en-US" dirty="0" smtClean="0"/>
              <a:t>表示当前看做</a:t>
            </a:r>
            <a:r>
              <a:rPr lang="en-US" altLang="zh-CN" dirty="0" smtClean="0"/>
              <a:t>file</a:t>
            </a:r>
            <a:r>
              <a:rPr lang="zh-CN" altLang="en-US" dirty="0" smtClean="0"/>
              <a:t>的第</a:t>
            </a:r>
            <a:r>
              <a:rPr lang="en-US" altLang="zh-CN" dirty="0" smtClean="0"/>
              <a:t>number</a:t>
            </a:r>
            <a:r>
              <a:rPr lang="zh-CN" altLang="en-US" dirty="0" smtClean="0"/>
              <a:t>行开始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4374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其他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#error</a:t>
            </a:r>
          </a:p>
          <a:p>
            <a:r>
              <a:rPr lang="en-US" altLang="zh-CN" dirty="0" smtClean="0"/>
              <a:t>#pragma</a:t>
            </a:r>
          </a:p>
          <a:p>
            <a:r>
              <a:rPr lang="zh-CN" altLang="en-US" dirty="0" smtClean="0"/>
              <a:t>编译器定义</a:t>
            </a:r>
            <a:endParaRPr lang="en-US" altLang="zh-CN" dirty="0" smtClean="0"/>
          </a:p>
          <a:p>
            <a:r>
              <a:rPr lang="en-US" altLang="zh-CN" dirty="0"/>
              <a:t>#pragma listing on "..\</a:t>
            </a:r>
            <a:r>
              <a:rPr lang="en-US" altLang="zh-CN" dirty="0" err="1"/>
              <a:t>listing.dir</a:t>
            </a:r>
            <a:r>
              <a:rPr lang="en-US" altLang="zh-CN" dirty="0"/>
              <a:t>"</a:t>
            </a:r>
          </a:p>
          <a:p>
            <a:r>
              <a:rPr lang="en-US" altLang="zh-CN" smtClean="0"/>
              <a:t>-&gt;_</a:t>
            </a:r>
            <a:r>
              <a:rPr lang="en-US" altLang="zh-CN" dirty="0"/>
              <a:t>Pragma ( "listing on \"..\\</a:t>
            </a:r>
            <a:r>
              <a:rPr lang="en-US" altLang="zh-CN" dirty="0" err="1"/>
              <a:t>listing.dir</a:t>
            </a:r>
            <a:r>
              <a:rPr lang="en-US" altLang="zh-CN" dirty="0"/>
              <a:t>\"" </a:t>
            </a:r>
            <a:r>
              <a:rPr lang="en-US" altLang="zh-CN" dirty="0" smtClean="0"/>
              <a:t>)</a:t>
            </a:r>
          </a:p>
          <a:p>
            <a:r>
              <a:rPr lang="en-US" altLang="zh-CN" dirty="0" smtClean="0"/>
              <a:t>#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4270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预定</a:t>
            </a:r>
            <a:r>
              <a:rPr lang="zh-CN" altLang="en-US" dirty="0" smtClean="0"/>
              <a:t>义宏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__FILE__</a:t>
            </a:r>
          </a:p>
          <a:p>
            <a:r>
              <a:rPr lang="en-US" altLang="zh-CN" dirty="0" smtClean="0"/>
              <a:t>__LINE__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6970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Preprocess Reverser Overview</a:t>
            </a:r>
            <a:endParaRPr lang="zh-CN" altLang="en-US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吴争锴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1028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算法核心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假设：</a:t>
            </a:r>
            <a:endParaRPr lang="en-US" altLang="zh-CN" dirty="0" smtClean="0"/>
          </a:p>
          <a:p>
            <a:r>
              <a:rPr lang="en-US" altLang="zh-CN" dirty="0" smtClean="0"/>
              <a:t>#define G(x) x++</a:t>
            </a:r>
          </a:p>
          <a:p>
            <a:r>
              <a:rPr lang="en-US" altLang="zh-CN" dirty="0" smtClean="0"/>
              <a:t>#define H(x) x—</a:t>
            </a:r>
          </a:p>
          <a:p>
            <a:r>
              <a:rPr lang="en-US" altLang="zh-CN" dirty="0" smtClean="0"/>
              <a:t>#define A(</a:t>
            </a:r>
            <a:r>
              <a:rPr lang="en-US" altLang="zh-CN" dirty="0" err="1" smtClean="0"/>
              <a:t>x,y</a:t>
            </a:r>
            <a:r>
              <a:rPr lang="en-US" altLang="zh-CN" dirty="0" smtClean="0"/>
              <a:t>) </a:t>
            </a:r>
            <a:r>
              <a:rPr lang="en-US" altLang="zh-CN" dirty="0" err="1" smtClean="0"/>
              <a:t>x+y</a:t>
            </a:r>
            <a:endParaRPr lang="en-US" altLang="zh-CN" dirty="0" smtClean="0"/>
          </a:p>
          <a:p>
            <a:r>
              <a:rPr lang="en-US" altLang="zh-CN" dirty="0" smtClean="0"/>
              <a:t>#define B(</a:t>
            </a:r>
            <a:r>
              <a:rPr lang="en-US" altLang="zh-CN" dirty="0" err="1" smtClean="0"/>
              <a:t>x,y</a:t>
            </a:r>
            <a:r>
              <a:rPr lang="en-US" altLang="zh-CN" dirty="0" smtClean="0"/>
              <a:t>) x-y</a:t>
            </a:r>
          </a:p>
          <a:p>
            <a:r>
              <a:rPr lang="en-US" altLang="zh-CN" dirty="0" smtClean="0"/>
              <a:t>#define F(</a:t>
            </a:r>
            <a:r>
              <a:rPr lang="en-US" altLang="zh-CN" dirty="0" err="1" smtClean="0"/>
              <a:t>x,y</a:t>
            </a:r>
            <a:r>
              <a:rPr lang="en-US" altLang="zh-CN" dirty="0" smtClean="0"/>
              <a:t>) (A(</a:t>
            </a:r>
            <a:r>
              <a:rPr lang="en-US" altLang="zh-CN" dirty="0" err="1" smtClean="0"/>
              <a:t>x,y</a:t>
            </a:r>
            <a:r>
              <a:rPr lang="en-US" altLang="zh-CN" dirty="0" smtClean="0"/>
              <a:t>))*(B(</a:t>
            </a:r>
            <a:r>
              <a:rPr lang="en-US" altLang="zh-CN" dirty="0" err="1" smtClean="0"/>
              <a:t>x,y</a:t>
            </a:r>
            <a:r>
              <a:rPr lang="en-US" altLang="zh-CN" dirty="0" smtClean="0"/>
              <a:t>))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2836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</a:p>
        </p:txBody>
      </p:sp>
      <p:sp>
        <p:nvSpPr>
          <p:cNvPr id="4" name="椭圆 3"/>
          <p:cNvSpPr/>
          <p:nvPr/>
        </p:nvSpPr>
        <p:spPr>
          <a:xfrm>
            <a:off x="-108520" y="1465406"/>
            <a:ext cx="1584176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/>
              <a:t>F(</a:t>
            </a:r>
            <a:endParaRPr lang="zh-CN" altLang="en-US" sz="3200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27584" y="1486035"/>
            <a:ext cx="1728192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zh-CN" dirty="0" smtClean="0"/>
              <a:t>G(</a:t>
            </a:r>
            <a:endParaRPr lang="zh-CN" altLang="en-US" dirty="0"/>
          </a:p>
        </p:txBody>
      </p:sp>
      <p:sp>
        <p:nvSpPr>
          <p:cNvPr id="7" name="内容占位符 4"/>
          <p:cNvSpPr txBox="1">
            <a:spLocks/>
          </p:cNvSpPr>
          <p:nvPr/>
        </p:nvSpPr>
        <p:spPr>
          <a:xfrm>
            <a:off x="1979712" y="1484784"/>
            <a:ext cx="1728192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dirty="0" smtClean="0"/>
              <a:t>x</a:t>
            </a:r>
            <a:endParaRPr lang="zh-CN" altLang="en-US" dirty="0"/>
          </a:p>
        </p:txBody>
      </p:sp>
      <p:sp>
        <p:nvSpPr>
          <p:cNvPr id="8" name="内容占位符 4"/>
          <p:cNvSpPr txBox="1">
            <a:spLocks/>
          </p:cNvSpPr>
          <p:nvPr/>
        </p:nvSpPr>
        <p:spPr>
          <a:xfrm>
            <a:off x="2987824" y="1488315"/>
            <a:ext cx="1728192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2" name="内容占位符 4"/>
          <p:cNvSpPr txBox="1">
            <a:spLocks/>
          </p:cNvSpPr>
          <p:nvPr/>
        </p:nvSpPr>
        <p:spPr>
          <a:xfrm>
            <a:off x="3923928" y="1488315"/>
            <a:ext cx="1728192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dirty="0" smtClean="0"/>
              <a:t>,</a:t>
            </a:r>
            <a:endParaRPr lang="zh-CN" altLang="en-US" dirty="0"/>
          </a:p>
        </p:txBody>
      </p:sp>
      <p:sp>
        <p:nvSpPr>
          <p:cNvPr id="9" name="内容占位符 4"/>
          <p:cNvSpPr txBox="1">
            <a:spLocks/>
          </p:cNvSpPr>
          <p:nvPr/>
        </p:nvSpPr>
        <p:spPr>
          <a:xfrm>
            <a:off x="4821678" y="1461922"/>
            <a:ext cx="1728192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dirty="0" smtClean="0"/>
              <a:t>H(</a:t>
            </a:r>
            <a:endParaRPr lang="zh-CN" altLang="en-US" dirty="0"/>
          </a:p>
        </p:txBody>
      </p:sp>
      <p:sp>
        <p:nvSpPr>
          <p:cNvPr id="11" name="内容占位符 4"/>
          <p:cNvSpPr txBox="1">
            <a:spLocks/>
          </p:cNvSpPr>
          <p:nvPr/>
        </p:nvSpPr>
        <p:spPr>
          <a:xfrm>
            <a:off x="5888431" y="1461922"/>
            <a:ext cx="1728192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13" name="内容占位符 4"/>
          <p:cNvSpPr txBox="1">
            <a:spLocks/>
          </p:cNvSpPr>
          <p:nvPr/>
        </p:nvSpPr>
        <p:spPr>
          <a:xfrm>
            <a:off x="6886742" y="1424122"/>
            <a:ext cx="1728192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14" name="内容占位符 4"/>
          <p:cNvSpPr txBox="1">
            <a:spLocks/>
          </p:cNvSpPr>
          <p:nvPr/>
        </p:nvSpPr>
        <p:spPr>
          <a:xfrm>
            <a:off x="7906757" y="1461922"/>
            <a:ext cx="1728192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15" name="椭圆 14"/>
          <p:cNvSpPr/>
          <p:nvPr/>
        </p:nvSpPr>
        <p:spPr>
          <a:xfrm>
            <a:off x="179512" y="2780928"/>
            <a:ext cx="1584176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/>
              <a:t>F(</a:t>
            </a:r>
            <a:endParaRPr lang="zh-CN" altLang="en-US" sz="3200" dirty="0"/>
          </a:p>
        </p:txBody>
      </p:sp>
      <p:sp>
        <p:nvSpPr>
          <p:cNvPr id="16" name="内容占位符 4"/>
          <p:cNvSpPr txBox="1">
            <a:spLocks/>
          </p:cNvSpPr>
          <p:nvPr/>
        </p:nvSpPr>
        <p:spPr>
          <a:xfrm>
            <a:off x="1227182" y="2744157"/>
            <a:ext cx="1728192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dirty="0" smtClean="0"/>
              <a:t>x</a:t>
            </a:r>
            <a:endParaRPr lang="zh-CN" altLang="en-US" dirty="0"/>
          </a:p>
        </p:txBody>
      </p:sp>
      <p:sp>
        <p:nvSpPr>
          <p:cNvPr id="17" name="内容占位符 4"/>
          <p:cNvSpPr txBox="1">
            <a:spLocks/>
          </p:cNvSpPr>
          <p:nvPr/>
        </p:nvSpPr>
        <p:spPr>
          <a:xfrm>
            <a:off x="2267744" y="2744157"/>
            <a:ext cx="1728192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dirty="0" smtClean="0"/>
              <a:t>++</a:t>
            </a:r>
            <a:endParaRPr lang="zh-CN" altLang="en-US" dirty="0"/>
          </a:p>
        </p:txBody>
      </p:sp>
      <p:sp>
        <p:nvSpPr>
          <p:cNvPr id="18" name="内容占位符 4"/>
          <p:cNvSpPr txBox="1">
            <a:spLocks/>
          </p:cNvSpPr>
          <p:nvPr/>
        </p:nvSpPr>
        <p:spPr>
          <a:xfrm>
            <a:off x="3419872" y="2744157"/>
            <a:ext cx="1728192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dirty="0" smtClean="0"/>
              <a:t>,</a:t>
            </a:r>
            <a:endParaRPr lang="zh-CN" altLang="en-US" dirty="0"/>
          </a:p>
        </p:txBody>
      </p:sp>
      <p:sp>
        <p:nvSpPr>
          <p:cNvPr id="19" name="内容占位符 4"/>
          <p:cNvSpPr txBox="1">
            <a:spLocks/>
          </p:cNvSpPr>
          <p:nvPr/>
        </p:nvSpPr>
        <p:spPr>
          <a:xfrm>
            <a:off x="4427984" y="2744157"/>
            <a:ext cx="1728192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20" name="内容占位符 4"/>
          <p:cNvSpPr txBox="1">
            <a:spLocks/>
          </p:cNvSpPr>
          <p:nvPr/>
        </p:nvSpPr>
        <p:spPr>
          <a:xfrm>
            <a:off x="5580112" y="2725110"/>
            <a:ext cx="1728192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dirty="0" smtClean="0"/>
              <a:t>--</a:t>
            </a:r>
            <a:endParaRPr lang="zh-CN" altLang="en-US" dirty="0"/>
          </a:p>
        </p:txBody>
      </p:sp>
      <p:sp>
        <p:nvSpPr>
          <p:cNvPr id="21" name="内容占位符 4"/>
          <p:cNvSpPr txBox="1">
            <a:spLocks/>
          </p:cNvSpPr>
          <p:nvPr/>
        </p:nvSpPr>
        <p:spPr>
          <a:xfrm>
            <a:off x="6752527" y="2729385"/>
            <a:ext cx="1728192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dirty="0" smtClean="0"/>
              <a:t>)</a:t>
            </a:r>
            <a:endParaRPr lang="zh-CN" altLang="en-US" dirty="0"/>
          </a:p>
        </p:txBody>
      </p:sp>
      <p:cxnSp>
        <p:nvCxnSpPr>
          <p:cNvPr id="23" name="直接箭头连接符 22"/>
          <p:cNvCxnSpPr/>
          <p:nvPr/>
        </p:nvCxnSpPr>
        <p:spPr>
          <a:xfrm flipH="1">
            <a:off x="2091278" y="2204864"/>
            <a:ext cx="680522" cy="1043349"/>
          </a:xfrm>
          <a:prstGeom prst="straightConnector1">
            <a:avLst/>
          </a:prstGeom>
          <a:ln w="603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H="1">
            <a:off x="5292080" y="2204864"/>
            <a:ext cx="1460448" cy="108012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椭圆 34"/>
          <p:cNvSpPr/>
          <p:nvPr/>
        </p:nvSpPr>
        <p:spPr>
          <a:xfrm>
            <a:off x="606394" y="4221088"/>
            <a:ext cx="1241576" cy="7200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/>
              <a:t>A(</a:t>
            </a:r>
            <a:endParaRPr lang="zh-CN" altLang="en-US" sz="3200" dirty="0"/>
          </a:p>
        </p:txBody>
      </p:sp>
      <p:sp>
        <p:nvSpPr>
          <p:cNvPr id="36" name="椭圆 35"/>
          <p:cNvSpPr/>
          <p:nvPr/>
        </p:nvSpPr>
        <p:spPr>
          <a:xfrm>
            <a:off x="1417889" y="4204237"/>
            <a:ext cx="1272362" cy="7200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/>
              <a:t>x</a:t>
            </a:r>
            <a:endParaRPr lang="zh-CN" altLang="en-US" sz="3200" dirty="0"/>
          </a:p>
        </p:txBody>
      </p:sp>
      <p:sp>
        <p:nvSpPr>
          <p:cNvPr id="37" name="椭圆 36"/>
          <p:cNvSpPr/>
          <p:nvPr/>
        </p:nvSpPr>
        <p:spPr>
          <a:xfrm>
            <a:off x="2159732" y="4185461"/>
            <a:ext cx="1368152" cy="7388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/>
              <a:t>++</a:t>
            </a:r>
            <a:endParaRPr lang="zh-CN" altLang="en-US" sz="3200" dirty="0"/>
          </a:p>
        </p:txBody>
      </p:sp>
      <p:sp>
        <p:nvSpPr>
          <p:cNvPr id="38" name="内容占位符 4"/>
          <p:cNvSpPr txBox="1">
            <a:spLocks/>
          </p:cNvSpPr>
          <p:nvPr/>
        </p:nvSpPr>
        <p:spPr>
          <a:xfrm>
            <a:off x="3084216" y="4194896"/>
            <a:ext cx="1332148" cy="7199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dirty="0" smtClean="0"/>
              <a:t>,</a:t>
            </a:r>
            <a:endParaRPr lang="zh-CN" altLang="en-US" dirty="0"/>
          </a:p>
        </p:txBody>
      </p:sp>
      <p:sp>
        <p:nvSpPr>
          <p:cNvPr id="39" name="内容占位符 4"/>
          <p:cNvSpPr txBox="1">
            <a:spLocks/>
          </p:cNvSpPr>
          <p:nvPr/>
        </p:nvSpPr>
        <p:spPr>
          <a:xfrm>
            <a:off x="3834821" y="4142944"/>
            <a:ext cx="1296144" cy="7202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40" name="内容占位符 4"/>
          <p:cNvSpPr txBox="1">
            <a:spLocks/>
          </p:cNvSpPr>
          <p:nvPr/>
        </p:nvSpPr>
        <p:spPr>
          <a:xfrm>
            <a:off x="4691372" y="4203936"/>
            <a:ext cx="1304528" cy="7203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dirty="0" smtClean="0"/>
              <a:t>--</a:t>
            </a:r>
            <a:endParaRPr lang="zh-CN" altLang="en-US" dirty="0"/>
          </a:p>
        </p:txBody>
      </p:sp>
      <p:sp>
        <p:nvSpPr>
          <p:cNvPr id="41" name="内容占位符 4"/>
          <p:cNvSpPr txBox="1">
            <a:spLocks/>
          </p:cNvSpPr>
          <p:nvPr/>
        </p:nvSpPr>
        <p:spPr>
          <a:xfrm>
            <a:off x="5505884" y="4185461"/>
            <a:ext cx="1435555" cy="7200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42" name="内容占位符 4"/>
          <p:cNvSpPr txBox="1">
            <a:spLocks/>
          </p:cNvSpPr>
          <p:nvPr/>
        </p:nvSpPr>
        <p:spPr>
          <a:xfrm>
            <a:off x="6350626" y="4185556"/>
            <a:ext cx="1332148" cy="7199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dirty="0"/>
              <a:t>*</a:t>
            </a:r>
            <a:endParaRPr lang="zh-CN" altLang="en-US" dirty="0"/>
          </a:p>
        </p:txBody>
      </p:sp>
      <p:sp>
        <p:nvSpPr>
          <p:cNvPr id="43" name="椭圆 42"/>
          <p:cNvSpPr/>
          <p:nvPr/>
        </p:nvSpPr>
        <p:spPr>
          <a:xfrm>
            <a:off x="560372" y="5084641"/>
            <a:ext cx="1241576" cy="7200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B</a:t>
            </a:r>
            <a:r>
              <a:rPr lang="en-US" altLang="zh-CN" sz="3200" dirty="0" smtClean="0"/>
              <a:t>(</a:t>
            </a:r>
            <a:endParaRPr lang="zh-CN" altLang="en-US" sz="3200" dirty="0"/>
          </a:p>
        </p:txBody>
      </p:sp>
      <p:sp>
        <p:nvSpPr>
          <p:cNvPr id="44" name="椭圆 43"/>
          <p:cNvSpPr/>
          <p:nvPr/>
        </p:nvSpPr>
        <p:spPr>
          <a:xfrm>
            <a:off x="1343531" y="5084641"/>
            <a:ext cx="1272362" cy="7200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/>
              <a:t>x</a:t>
            </a:r>
            <a:endParaRPr lang="zh-CN" altLang="en-US" sz="3200" dirty="0"/>
          </a:p>
        </p:txBody>
      </p:sp>
      <p:sp>
        <p:nvSpPr>
          <p:cNvPr id="45" name="椭圆 44"/>
          <p:cNvSpPr/>
          <p:nvPr/>
        </p:nvSpPr>
        <p:spPr>
          <a:xfrm>
            <a:off x="2151183" y="5058142"/>
            <a:ext cx="1368152" cy="7388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/>
              <a:t>++</a:t>
            </a:r>
            <a:endParaRPr lang="zh-CN" altLang="en-US" sz="3200" dirty="0"/>
          </a:p>
        </p:txBody>
      </p:sp>
      <p:sp>
        <p:nvSpPr>
          <p:cNvPr id="46" name="内容占位符 4"/>
          <p:cNvSpPr txBox="1">
            <a:spLocks/>
          </p:cNvSpPr>
          <p:nvPr/>
        </p:nvSpPr>
        <p:spPr>
          <a:xfrm>
            <a:off x="3075667" y="5067577"/>
            <a:ext cx="1332148" cy="7199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dirty="0" smtClean="0"/>
              <a:t>,</a:t>
            </a:r>
            <a:endParaRPr lang="zh-CN" altLang="en-US" dirty="0"/>
          </a:p>
        </p:txBody>
      </p:sp>
      <p:sp>
        <p:nvSpPr>
          <p:cNvPr id="47" name="内容占位符 4"/>
          <p:cNvSpPr txBox="1">
            <a:spLocks/>
          </p:cNvSpPr>
          <p:nvPr/>
        </p:nvSpPr>
        <p:spPr>
          <a:xfrm>
            <a:off x="3826272" y="5015625"/>
            <a:ext cx="1296144" cy="7202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48" name="内容占位符 4"/>
          <p:cNvSpPr txBox="1">
            <a:spLocks/>
          </p:cNvSpPr>
          <p:nvPr/>
        </p:nvSpPr>
        <p:spPr>
          <a:xfrm>
            <a:off x="4682823" y="5076617"/>
            <a:ext cx="1304528" cy="7203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dirty="0" smtClean="0"/>
              <a:t>--</a:t>
            </a:r>
            <a:endParaRPr lang="zh-CN" altLang="en-US" dirty="0"/>
          </a:p>
        </p:txBody>
      </p:sp>
      <p:sp>
        <p:nvSpPr>
          <p:cNvPr id="49" name="内容占位符 4"/>
          <p:cNvSpPr txBox="1">
            <a:spLocks/>
          </p:cNvSpPr>
          <p:nvPr/>
        </p:nvSpPr>
        <p:spPr>
          <a:xfrm>
            <a:off x="5497335" y="5058142"/>
            <a:ext cx="1435555" cy="7200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dirty="0" smtClean="0"/>
              <a:t>)</a:t>
            </a:r>
            <a:endParaRPr lang="zh-CN" altLang="en-US" dirty="0"/>
          </a:p>
        </p:txBody>
      </p:sp>
      <p:cxnSp>
        <p:nvCxnSpPr>
          <p:cNvPr id="52" name="直接箭头连接符 51"/>
          <p:cNvCxnSpPr/>
          <p:nvPr/>
        </p:nvCxnSpPr>
        <p:spPr>
          <a:xfrm flipH="1">
            <a:off x="1979713" y="2132856"/>
            <a:ext cx="864095" cy="2448272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 flipH="1">
            <a:off x="1847970" y="2132856"/>
            <a:ext cx="923830" cy="3456384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H="1">
            <a:off x="4572000" y="2132856"/>
            <a:ext cx="2180528" cy="2592288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 flipH="1">
            <a:off x="4538464" y="2132856"/>
            <a:ext cx="2214064" cy="3456384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>
            <a:off x="-373478" y="5813306"/>
            <a:ext cx="10153128" cy="1224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/>
              <a:t>(x+++y--)*(x++-y--)</a:t>
            </a:r>
            <a:endParaRPr lang="zh-CN" altLang="en-US" sz="3200" dirty="0"/>
          </a:p>
        </p:txBody>
      </p:sp>
      <p:cxnSp>
        <p:nvCxnSpPr>
          <p:cNvPr id="66" name="直接箭头连接符 65"/>
          <p:cNvCxnSpPr/>
          <p:nvPr/>
        </p:nvCxnSpPr>
        <p:spPr>
          <a:xfrm>
            <a:off x="2771800" y="2132856"/>
            <a:ext cx="648072" cy="4392488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>
            <a:off x="2843808" y="1992371"/>
            <a:ext cx="2304256" cy="453297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 flipH="1">
            <a:off x="4283968" y="1992371"/>
            <a:ext cx="2468559" cy="4433274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 flipH="1">
            <a:off x="5796136" y="2132856"/>
            <a:ext cx="956392" cy="4392488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849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先正向处理预处理过程</a:t>
            </a:r>
            <a:endParaRPr lang="en-US" altLang="zh-CN" dirty="0" smtClean="0"/>
          </a:p>
          <a:p>
            <a:r>
              <a:rPr lang="zh-CN" altLang="en-US" dirty="0" smtClean="0"/>
              <a:t>按照宏的顺序按层次建立图</a:t>
            </a:r>
            <a:endParaRPr lang="en-US" altLang="zh-CN" dirty="0" smtClean="0"/>
          </a:p>
          <a:p>
            <a:r>
              <a:rPr lang="zh-CN" altLang="en-US" dirty="0" smtClean="0"/>
              <a:t>每一层即为预处理中的一趟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82957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对于每次修改：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：是否可以不破坏</a:t>
            </a:r>
            <a:r>
              <a:rPr lang="zh-CN" altLang="en-US" dirty="0" smtClean="0"/>
              <a:t>宏定义</a:t>
            </a:r>
            <a:endParaRPr lang="en-US" altLang="zh-CN" dirty="0" smtClean="0"/>
          </a:p>
          <a:p>
            <a:r>
              <a:rPr lang="zh-CN" altLang="en-US" dirty="0" smtClean="0"/>
              <a:t>对于宏参数进行修改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/>
              <a:t>：破坏最少的</a:t>
            </a:r>
            <a:r>
              <a:rPr lang="zh-CN" altLang="en-US" dirty="0" smtClean="0"/>
              <a:t>宏定义</a:t>
            </a:r>
            <a:endParaRPr lang="en-US" altLang="zh-CN" dirty="0" smtClean="0"/>
          </a:p>
          <a:p>
            <a:r>
              <a:rPr lang="zh-CN" altLang="en-US" dirty="0" smtClean="0"/>
              <a:t>向上查找到第一段包含它的宏定义删除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7159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难点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：算法实现</a:t>
            </a:r>
            <a:endParaRPr lang="en-US" altLang="zh-CN" dirty="0" smtClean="0"/>
          </a:p>
          <a:p>
            <a:r>
              <a:rPr lang="zh-CN" altLang="en-US" dirty="0" smtClean="0"/>
              <a:t>鲁棒性：</a:t>
            </a:r>
            <a:r>
              <a:rPr lang="en-US" altLang="zh-CN" dirty="0" smtClean="0"/>
              <a:t>#if</a:t>
            </a:r>
            <a:r>
              <a:rPr lang="zh-CN" altLang="en-US" smtClean="0"/>
              <a:t>等的处理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：最优性证明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4860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63500">
          <a:solidFill>
            <a:srgbClr val="FF0000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1107</Words>
  <Application>Microsoft Office PowerPoint</Application>
  <PresentationFormat>全屏显示(4:3)</PresentationFormat>
  <Paragraphs>190</Paragraphs>
  <Slides>22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3" baseType="lpstr">
      <vt:lpstr>Office 主题​​</vt:lpstr>
      <vt:lpstr>C Preprocessor Overview</vt:lpstr>
      <vt:lpstr>条件语句</vt:lpstr>
      <vt:lpstr>条件语句</vt:lpstr>
      <vt:lpstr>文件包含</vt:lpstr>
      <vt:lpstr>宏 object-like</vt:lpstr>
      <vt:lpstr>宏 funtion-like</vt:lpstr>
      <vt:lpstr>宏 #和##</vt:lpstr>
      <vt:lpstr>宏 #和##</vt:lpstr>
      <vt:lpstr>宏 嵌套处理</vt:lpstr>
      <vt:lpstr>Sample1</vt:lpstr>
      <vt:lpstr>Sample2</vt:lpstr>
      <vt:lpstr>Sample3</vt:lpstr>
      <vt:lpstr>Sample4</vt:lpstr>
      <vt:lpstr>行号标示符</vt:lpstr>
      <vt:lpstr>其他</vt:lpstr>
      <vt:lpstr>预定义宏</vt:lpstr>
      <vt:lpstr>Preprocess Reverser Overview</vt:lpstr>
      <vt:lpstr>算法核心</vt:lpstr>
      <vt:lpstr>数据结构</vt:lpstr>
      <vt:lpstr>算法</vt:lpstr>
      <vt:lpstr>PowerPoint 演示文稿</vt:lpstr>
      <vt:lpstr>难点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clevo</dc:creator>
  <cp:lastModifiedBy>clevo</cp:lastModifiedBy>
  <cp:revision>27</cp:revision>
  <dcterms:created xsi:type="dcterms:W3CDTF">2014-03-26T16:27:40Z</dcterms:created>
  <dcterms:modified xsi:type="dcterms:W3CDTF">2014-07-03T22:00:13Z</dcterms:modified>
</cp:coreProperties>
</file>